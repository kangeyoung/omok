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51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987" autoAdjust="0"/>
    <p:restoredTop sz="90439" autoAdjust="0"/>
  </p:normalViewPr>
  <p:slideViewPr>
    <p:cSldViewPr snapToGrid="0">
      <p:cViewPr varScale="1">
        <p:scale>
          <a:sx n="100" d="100"/>
          <a:sy n="100" d="100"/>
        </p:scale>
        <p:origin x="216" y="102"/>
      </p:cViewPr>
      <p:guideLst>
        <p:guide orient="horz" pos="2152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2262" y="84"/>
      </p:cViewPr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presProps" Target="presProps.xml"  /><Relationship Id="rId36" Type="http://schemas.openxmlformats.org/officeDocument/2006/relationships/viewProps" Target="viewProps.xml"  /><Relationship Id="rId37" Type="http://schemas.openxmlformats.org/officeDocument/2006/relationships/theme" Target="theme/theme1.xml"  /><Relationship Id="rId38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C2EC7F2E-ACDD-4C1A-9F53-84902D737C29}" type="datetime1">
              <a:rPr lang="ko-KR" altLang="en-US"/>
              <a:pPr lvl="0">
                <a:defRPr/>
              </a:pPr>
              <a:t>2025-09-17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7147E26-AEEC-48D0-91BD-38B359ED544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7147E26-AEEC-48D0-91BD-38B359ED544B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1CE16-21EA-4A76-9D31-DB7163CBF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CA51B9-2CB0-4EC5-A0D6-168A66892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B36ED6-BAF0-42BA-8287-62F1F8B47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내용 개체 틀 11">
            <a:extLst>
              <a:ext uri="{FF2B5EF4-FFF2-40B4-BE49-F238E27FC236}">
                <a16:creationId xmlns:a16="http://schemas.microsoft.com/office/drawing/2014/main" id="{25B8C553-B4B5-44A4-B4AF-3808AFBC96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9388" y="136526"/>
            <a:ext cx="11887102" cy="395320"/>
          </a:xfr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0" scaled="1"/>
            <a:tileRect/>
          </a:gradFill>
        </p:spPr>
        <p:txBody>
          <a:bodyPr>
            <a:normAutofit/>
          </a:bodyPr>
          <a:lstStyle>
            <a:lvl2pPr marL="457200" indent="0" algn="r">
              <a:buNone/>
              <a:defRPr sz="1800" b="1" cap="none" spc="50" baseline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defRPr>
            </a:lvl2pPr>
          </a:lstStyle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2852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43BF65-08A6-49C3-8CE5-D4256412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E36B48-D0DA-4376-A222-4321B28DB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baseline="0">
                <a:ea typeface="함초롬바탕" panose="02030604000101010101" pitchFamily="18" charset="-127"/>
              </a:defRPr>
            </a:lvl1pPr>
          </a:lstStyle>
          <a:p>
            <a:fld id="{CAD729F4-ECEB-4BAB-B37C-2E851F74A79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내용 개체 틀 11">
            <a:extLst>
              <a:ext uri="{FF2B5EF4-FFF2-40B4-BE49-F238E27FC236}">
                <a16:creationId xmlns:a16="http://schemas.microsoft.com/office/drawing/2014/main" id="{7F9B8CE8-1928-4AF8-9938-5F2DEC32CC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388" y="136526"/>
            <a:ext cx="11887102" cy="395320"/>
          </a:xfr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0" scaled="1"/>
            <a:tileRect/>
          </a:gradFill>
        </p:spPr>
        <p:txBody>
          <a:bodyPr>
            <a:normAutofit/>
          </a:bodyPr>
          <a:lstStyle>
            <a:lvl2pPr marL="457200" indent="0" algn="r">
              <a:buNone/>
              <a:defRPr sz="1800" b="1" cap="none" spc="50" baseline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defRPr>
            </a:lvl2pPr>
          </a:lstStyle>
          <a:p>
            <a:pPr lvl="1"/>
            <a:r>
              <a:rPr lang="ko-KR" alt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오목 게임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7030161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5C85F6-95E4-470E-B74A-2754AEB02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DD10BD-C4A1-4D88-A4C1-684172DFD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09CC1A-51F5-4146-9B06-A94F38A68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377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s://github.com/kangeyoung/Omok/tree/jpminlak" TargetMode="External"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4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6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7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0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1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Relationship Id="rId3" Type="http://schemas.openxmlformats.org/officeDocument/2006/relationships/image" Target="../media/image23.png"  /><Relationship Id="rId4" Type="http://schemas.openxmlformats.org/officeDocument/2006/relationships/image" Target="../media/image24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5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7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8.png"  /><Relationship Id="rId3" Type="http://schemas.openxmlformats.org/officeDocument/2006/relationships/image" Target="../media/image29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FF0A610-BD25-4060-99E0-F16EAF67F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0939" y="969963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오목 게임</a:t>
            </a:r>
            <a:br>
              <a:rPr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</a:br>
            <a:r>
              <a:rPr lang="en-US" altLang="ko-KR" sz="18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br>
              <a:rPr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</a:br>
            <a:r>
              <a:rPr lang="ko-KR" altLang="en-US" sz="48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00FBFCF0-D306-45A6-8E2B-817997B3B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0939" y="3795680"/>
            <a:ext cx="9144000" cy="1655762"/>
          </a:xfrm>
        </p:spPr>
        <p:txBody>
          <a:bodyPr/>
          <a:lstStyle/>
          <a:p>
            <a:r>
              <a:rPr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작성자 </a:t>
            </a:r>
            <a:r>
              <a:rPr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:</a:t>
            </a:r>
          </a:p>
          <a:p>
            <a:r>
              <a:rPr lang="ko-KR" altLang="en-US" dirty="0" err="1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강이영</a:t>
            </a:r>
            <a:r>
              <a:rPr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, </a:t>
            </a:r>
            <a:r>
              <a:rPr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박정환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FEFBA204-DCD3-4BE0-B68D-8424B281B78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9388" y="136526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altLang="ko-KR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6644154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97832" y="866274"/>
            <a:ext cx="1556084" cy="79408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3200" b="1" spc="5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목차</a:t>
            </a:r>
            <a:endParaRPr lang="ko-KR" altLang="en-US" sz="3200" b="1" spc="50">
              <a:solidFill>
                <a:srgbClr val="70ad47">
                  <a:tint val="1000"/>
                </a:srgb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832" y="2117558"/>
            <a:ext cx="3289333" cy="26525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AutoNum type="arabicPeriod"/>
              <a:defRPr/>
            </a:pPr>
            <a:r>
              <a:rPr lang="ko-KR" altLang="en-US" sz="2800">
                <a:latin typeface="함초롬돋움"/>
                <a:ea typeface="함초롬돋움"/>
                <a:cs typeface="함초롬돋움"/>
              </a:rPr>
              <a:t> 개요</a:t>
            </a:r>
            <a:endParaRPr lang="ko-KR" altLang="en-US" sz="2800">
              <a:latin typeface="함초롬돋움"/>
              <a:ea typeface="함초롬돋움"/>
              <a:cs typeface="함초롬돋움"/>
            </a:endParaRPr>
          </a:p>
          <a:p>
            <a:pPr marL="342900" indent="-342900">
              <a:buAutoNum type="arabicPeriod"/>
              <a:defRPr/>
            </a:pPr>
            <a:r>
              <a:rPr lang="ko-KR" altLang="en-US" sz="2800">
                <a:latin typeface="함초롬돋움"/>
                <a:ea typeface="함초롬돋움"/>
                <a:cs typeface="함초롬돋움"/>
              </a:rPr>
              <a:t> 개발 환경</a:t>
            </a:r>
            <a:endParaRPr lang="ko-KR" altLang="en-US" sz="2800">
              <a:latin typeface="함초롬돋움"/>
              <a:ea typeface="함초롬돋움"/>
              <a:cs typeface="함초롬돋움"/>
            </a:endParaRPr>
          </a:p>
          <a:p>
            <a:pPr marL="342900" indent="-342900">
              <a:buAutoNum type="arabicPeriod"/>
              <a:defRPr/>
            </a:pPr>
            <a:r>
              <a:rPr lang="ko-KR" altLang="en-US" sz="2800">
                <a:latin typeface="함초롬돋움"/>
                <a:ea typeface="함초롬돋움"/>
                <a:cs typeface="함초롬돋움"/>
              </a:rPr>
              <a:t> 기능 정의서</a:t>
            </a:r>
            <a:endParaRPr lang="ko-KR" altLang="en-US" sz="2800">
              <a:latin typeface="함초롬돋움"/>
              <a:ea typeface="함초롬돋움"/>
              <a:cs typeface="함초롬돋움"/>
            </a:endParaRPr>
          </a:p>
          <a:p>
            <a:pPr marL="342900" indent="-342900">
              <a:buAutoNum type="arabicPeriod"/>
              <a:defRPr/>
            </a:pPr>
            <a:r>
              <a:rPr lang="ko-KR" altLang="en-US" sz="2800">
                <a:latin typeface="함초롬돋움"/>
                <a:ea typeface="함초롬돋움"/>
                <a:cs typeface="함초롬돋움"/>
              </a:rPr>
              <a:t> 순서도</a:t>
            </a:r>
            <a:endParaRPr lang="ko-KR" altLang="en-US" sz="2800">
              <a:latin typeface="함초롬돋움"/>
              <a:ea typeface="함초롬돋움"/>
              <a:cs typeface="함초롬돋움"/>
            </a:endParaRPr>
          </a:p>
          <a:p>
            <a:pPr marL="342900" indent="-342900">
              <a:buAutoNum type="arabicPeriod"/>
              <a:defRPr/>
            </a:pPr>
            <a:r>
              <a:rPr lang="ko-KR" altLang="en-US" sz="2800">
                <a:latin typeface="함초롬돋움"/>
                <a:ea typeface="함초롬돋움"/>
                <a:cs typeface="함초롬돋움"/>
              </a:rPr>
              <a:t> 주요 서비스 화면</a:t>
            </a:r>
            <a:endParaRPr lang="ko-KR" altLang="en-US" sz="2800">
              <a:latin typeface="함초롬돋움"/>
              <a:ea typeface="함초롬돋움"/>
              <a:cs typeface="함초롬돋움"/>
            </a:endParaRPr>
          </a:p>
          <a:p>
            <a:pPr marL="342900" indent="-342900">
              <a:buAutoNum type="arabicPeriod"/>
              <a:defRPr/>
            </a:pPr>
            <a:r>
              <a:rPr lang="ko-KR" altLang="en-US" sz="2800">
                <a:latin typeface="함초롬돋움"/>
                <a:ea typeface="함초롬돋움"/>
                <a:cs typeface="함초롬돋움"/>
              </a:rPr>
              <a:t> 보완할 점 </a:t>
            </a:r>
            <a:r>
              <a:rPr lang="en-US" altLang="ko-KR" sz="2800">
                <a:latin typeface="함초롬돋움"/>
                <a:ea typeface="함초롬돋움"/>
                <a:cs typeface="함초롬돋움"/>
              </a:rPr>
              <a:t>&amp;</a:t>
            </a:r>
            <a:r>
              <a:rPr lang="ko-KR" altLang="en-US" sz="2800">
                <a:latin typeface="함초롬돋움"/>
                <a:ea typeface="함초롬돋움"/>
                <a:cs typeface="함초롬돋움"/>
              </a:rPr>
              <a:t> 소감</a:t>
            </a:r>
            <a:endParaRPr lang="ko-KR" altLang="en-US" sz="2800"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2ED19D2-A8DB-4D63-AC61-4AD027E5E1D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ko-KR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AB125-099A-49C1-92C4-ABFC3235EB9F}"/>
              </a:ext>
            </a:extLst>
          </p:cNvPr>
          <p:cNvSpPr txBox="1"/>
          <p:nvPr/>
        </p:nvSpPr>
        <p:spPr>
          <a:xfrm>
            <a:off x="184484" y="160589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개요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D937CBEF-38DC-4AFE-BFD5-E0FC421B7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16878"/>
              </p:ext>
            </p:extLst>
          </p:nvPr>
        </p:nvGraphicFramePr>
        <p:xfrm>
          <a:off x="596562" y="915847"/>
          <a:ext cx="1617579" cy="546456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17579">
                  <a:extLst>
                    <a:ext uri="{9D8B030D-6E8A-4147-A177-3AD203B41FA5}">
                      <a16:colId xmlns:a16="http://schemas.microsoft.com/office/drawing/2014/main" val="2827794588"/>
                    </a:ext>
                  </a:extLst>
                </a:gridCol>
              </a:tblGrid>
              <a:tr h="18215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2"/>
                            </a:solidFill>
                          </a:ln>
                          <a:solidFill>
                            <a:srgbClr val="7030A0"/>
                          </a:solidFill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서비스 과제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825489"/>
                  </a:ext>
                </a:extLst>
              </a:tr>
              <a:tr h="18215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2"/>
                            </a:solidFill>
                          </a:ln>
                          <a:solidFill>
                            <a:srgbClr val="00B0F0"/>
                          </a:solidFill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목적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396873"/>
                  </a:ext>
                </a:extLst>
              </a:tr>
              <a:tr h="18215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2"/>
                            </a:solidFill>
                          </a:ln>
                          <a:solidFill>
                            <a:srgbClr val="0070C0"/>
                          </a:solidFill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주요 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4808852"/>
                  </a:ext>
                </a:extLst>
              </a:tr>
            </a:tbl>
          </a:graphicData>
        </a:graphic>
      </p:graphicFrame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AB50D9CD-1757-4C82-9C0B-B88AB1436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573576"/>
              </p:ext>
            </p:extLst>
          </p:nvPr>
        </p:nvGraphicFramePr>
        <p:xfrm>
          <a:off x="2388937" y="917294"/>
          <a:ext cx="7569200" cy="5464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9200">
                  <a:extLst>
                    <a:ext uri="{9D8B030D-6E8A-4147-A177-3AD203B41FA5}">
                      <a16:colId xmlns:a16="http://schemas.microsoft.com/office/drawing/2014/main" val="2732014520"/>
                    </a:ext>
                  </a:extLst>
                </a:gridCol>
              </a:tblGrid>
              <a:tr h="182152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오목 게임 프로그램 개발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926421"/>
                  </a:ext>
                </a:extLst>
              </a:tr>
              <a:tr h="18215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• </a:t>
                      </a:r>
                      <a:r>
                        <a:rPr lang="ko-KR" altLang="en-US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두 사람이 번갈아 가며 즐길 수 있는 오목 게임을 구현</a:t>
                      </a:r>
                      <a:endParaRPr lang="en-US" altLang="ko-KR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438536"/>
                  </a:ext>
                </a:extLst>
              </a:tr>
              <a:tr h="18215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• </a:t>
                      </a:r>
                      <a:r>
                        <a:rPr lang="ko-KR" altLang="en-US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순번 교대</a:t>
                      </a:r>
                      <a:endParaRPr lang="en-US" altLang="ko-KR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  <a:p>
                      <a:pPr latinLnBrk="1"/>
                      <a:r>
                        <a:rPr lang="en-US" altLang="ko-KR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• </a:t>
                      </a:r>
                      <a:r>
                        <a:rPr lang="ko-KR" altLang="en-US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제한시간</a:t>
                      </a:r>
                      <a:r>
                        <a:rPr lang="en-US" altLang="ko-KR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초읽기 기능</a:t>
                      </a:r>
                      <a:endParaRPr lang="en-US" altLang="ko-KR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  <a:p>
                      <a:pPr latinLnBrk="1"/>
                      <a:r>
                        <a:rPr lang="en-US" altLang="ko-KR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• 3x3 </a:t>
                      </a:r>
                      <a:r>
                        <a:rPr lang="ko-KR" altLang="en-US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금지 기능</a:t>
                      </a:r>
                      <a:endParaRPr lang="en-US" altLang="ko-KR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  <a:p>
                      <a:pPr latinLnBrk="1"/>
                      <a:r>
                        <a:rPr lang="en-US" altLang="ko-KR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• 3</a:t>
                      </a:r>
                      <a:r>
                        <a:rPr lang="ko-KR" altLang="en-US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판 </a:t>
                      </a:r>
                      <a:r>
                        <a:rPr lang="en-US" altLang="ko-KR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</a:t>
                      </a:r>
                      <a:r>
                        <a:rPr lang="ko-KR" altLang="en-US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승제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870985"/>
                  </a:ext>
                </a:extLst>
              </a:tr>
            </a:tbl>
          </a:graphicData>
        </a:graphic>
      </p:graphicFrame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98DDD5B9-3A6D-468B-9EE8-A7E7F0E14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AD729F4-ECEB-4BAB-B37C-2E851F74A798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3320500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610600" y="6348329"/>
            <a:ext cx="2743200" cy="365125"/>
          </a:xfrm>
        </p:spPr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8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4484" y="160589"/>
            <a:ext cx="1526205" cy="3899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2.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개발 환경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76536" y="1340767"/>
            <a:ext cx="7091648" cy="1592332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kumimoji="1" lang="en-US" altLang="ko-KR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 </a:t>
            </a:r>
            <a:r>
              <a:rPr kumimoji="1" lang="ko-KR" altLang="en-US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운영체제 </a:t>
            </a:r>
            <a:r>
              <a:rPr kumimoji="1" lang="en-US" altLang="ko-KR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: </a:t>
            </a:r>
            <a:r>
              <a:rPr lang="ko-KR" altLang="en-US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윈도우 </a:t>
            </a:r>
            <a:r>
              <a:rPr lang="en-US" altLang="ko-KR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10</a:t>
            </a:r>
            <a:r>
              <a:rPr lang="ko-KR" altLang="en-US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Pro 64</a:t>
            </a:r>
            <a:r>
              <a:rPr lang="ko-KR" altLang="en-US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비트 </a:t>
            </a:r>
            <a:r>
              <a:rPr lang="en-US" altLang="ko-KR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(10.0,</a:t>
            </a:r>
            <a:r>
              <a:rPr lang="ko-KR" altLang="en-US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 빌드 </a:t>
            </a:r>
            <a:r>
              <a:rPr lang="en-US" altLang="ko-KR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19045)</a:t>
            </a:r>
            <a:endParaRPr lang="en-US" altLang="ko-KR" b="1">
              <a:solidFill>
                <a:schemeClr val="bg1"/>
              </a:solidFill>
              <a:latin typeface="함초롬돋움"/>
              <a:ea typeface="함초롬돋움"/>
              <a:cs typeface="함초롬돋움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kumimoji="1" lang="en-US" altLang="ko-KR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 </a:t>
            </a:r>
            <a:r>
              <a:rPr kumimoji="1" lang="ko-KR" altLang="en-US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메모리 </a:t>
            </a:r>
            <a:r>
              <a:rPr kumimoji="1" lang="en-US" altLang="ko-KR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: 8GB</a:t>
            </a:r>
            <a:endParaRPr kumimoji="1" lang="en-US" altLang="ko-KR" sz="1800" b="1" i="0" u="none" strike="noStrike" cap="none" normalizeH="0" baseline="0">
              <a:solidFill>
                <a:schemeClr val="bg1"/>
              </a:solidFill>
              <a:effectLst/>
              <a:latin typeface="함초롬돋움"/>
              <a:ea typeface="함초롬돋움"/>
              <a:cs typeface="함초롬돋움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en-US" altLang="ko-KR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 JDK : 1.8</a:t>
            </a:r>
            <a:endParaRPr lang="en-US" altLang="ko-KR" b="1">
              <a:solidFill>
                <a:schemeClr val="bg1"/>
              </a:solidFill>
              <a:latin typeface="함초롬돋움"/>
              <a:ea typeface="함초롬돋움"/>
              <a:cs typeface="함초롬돋움"/>
            </a:endParaRPr>
          </a:p>
          <a:p>
            <a:pPr marL="0" indent="0" algn="l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kumimoji="1" lang="ko-KR" altLang="en-US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 </a:t>
            </a:r>
            <a:r>
              <a:rPr kumimoji="1" lang="en-US" altLang="ko-KR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IDE : eclipse 4.8.0</a:t>
            </a:r>
            <a:r>
              <a:rPr kumimoji="1" lang="ko-KR" altLang="en-US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 </a:t>
            </a:r>
            <a:r>
              <a:rPr kumimoji="1" lang="en-US" altLang="ko-KR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(</a:t>
            </a:r>
            <a:r>
              <a:rPr kumimoji="1" lang="ko-KR" altLang="en-US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확장 프로그램</a:t>
            </a:r>
            <a:r>
              <a:rPr kumimoji="1" lang="en-US" altLang="ko-KR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:</a:t>
            </a:r>
            <a:r>
              <a:rPr kumimoji="1" lang="ko-KR" altLang="en-US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 </a:t>
            </a:r>
            <a:r>
              <a:rPr kumimoji="1" lang="en-US" altLang="ko-KR" b="1" i="0" u="none" strike="noStrike" kern="1200" cap="none" spc="0" normalizeH="0" baseline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ANSI Escape Codes)</a:t>
            </a:r>
            <a:r>
              <a:rPr kumimoji="1" lang="ko-KR" altLang="en-US" b="1" i="0" u="none" strike="noStrike" kern="1200" cap="none" spc="0" normalizeH="0" baseline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kumimoji="1" lang="en-US" altLang="ko-KR" b="1" i="0" u="none" strike="noStrike" kern="1200" cap="none" spc="0" normalizeH="0" baseline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/</a:t>
            </a:r>
            <a:endParaRPr kumimoji="1" lang="en-US" altLang="ko-KR" b="1" i="0" u="none" strike="noStrike" kern="1200" cap="none" spc="0" normalizeH="0" baseline="0">
              <a:solidFill>
                <a:schemeClr val="bg1"/>
              </a:solidFill>
              <a:latin typeface="함초롬돋움"/>
              <a:ea typeface="함초롬돋움"/>
              <a:cs typeface="함초롬돋움"/>
            </a:endParaRPr>
          </a:p>
          <a:p>
            <a:pPr marL="0" indent="0" algn="l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 	</a:t>
            </a:r>
            <a:r>
              <a:rPr kumimoji="1" lang="en-US" altLang="ko-KR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IntelliJ IDEA 2024.3.2.2(Ultimate Edititon)</a:t>
            </a:r>
            <a:endParaRPr kumimoji="1" lang="en-US" altLang="ko-KR" sz="1800" b="1" i="0" u="none" strike="noStrike" cap="none" normalizeH="0" baseline="0">
              <a:solidFill>
                <a:schemeClr val="bg1"/>
              </a:solidFill>
              <a:effectLst/>
              <a:latin typeface="함초롬돋움"/>
              <a:ea typeface="함초롬돋움"/>
              <a:cs typeface="함초롬돋움"/>
            </a:endParaRPr>
          </a:p>
          <a:p>
            <a:pPr marL="0" indent="0" algn="l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en-US" altLang="ko-KR" sz="1800" b="1" i="0" u="none" strike="noStrike" cap="none" normalizeH="0" baseline="0">
              <a:solidFill>
                <a:schemeClr val="bg1"/>
              </a:solidFill>
              <a:effectLst/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5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4484" y="160589"/>
            <a:ext cx="179087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3.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기능 정의서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8" name="표 8"/>
          <p:cNvGraphicFramePr>
            <a:graphicFrameLocks noGrp="1"/>
          </p:cNvGraphicFramePr>
          <p:nvPr/>
        </p:nvGraphicFramePr>
        <p:xfrm>
          <a:off x="661737" y="721186"/>
          <a:ext cx="10454641" cy="6018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043"/>
                <a:gridCol w="2254568"/>
                <a:gridCol w="7479030"/>
              </a:tblGrid>
              <a:tr h="382982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번호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기능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기능 설명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9665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바둑판 출력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바둑판과 현재 놓인 돌의 상태를 출력한다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.</a:t>
                      </a:r>
                      <a:endParaRPr lang="en-US" altLang="ko-KR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9665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순번 교대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흑돌과 백돌의 순서를 바꾼다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.</a:t>
                      </a:r>
                      <a:endParaRPr lang="en-US" altLang="ko-KR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9665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스톱워치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제한 시간과 초읽기를 계산한다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.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9665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4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좌표 입력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돌을 놓을 위치를 지정한다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.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9665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시간 초과와 초읽기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제한 시간 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분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, 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초읽기 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회 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30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초 부여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.</a:t>
                      </a:r>
                      <a:endParaRPr lang="en-US" altLang="ko-KR" sz="1400"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제한 시간 소진 후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, 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초읽기 횟수를 모두 사용하면 패배 처리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.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9665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6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금지 규칙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• 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이미 돌을 놓은 곳에 좌표를 입력하는 경우 재입력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•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 좌표를 입력하지 않거나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,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 범위를 벗어날 경우 재입력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•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 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3x3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 규칙에 해당하는 곳에 좌표를 입력한 경우 재입력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9665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7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착수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지정한 위치에 돌을 놓음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.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9665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8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승리 조건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• 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오목 달성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• 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상대방이 기권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• 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상대방이 초읽기 횟수까지 다 소진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9665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9</a:t>
                      </a:r>
                      <a:endParaRPr lang="en-US" altLang="ko-KR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색상 표시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•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 가시성을 높이기 위해 메시지에 색상 사용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.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 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(e. g. 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승리 메시지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: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 노란색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,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 오류 메시지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: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 빨간색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)</a:t>
                      </a:r>
                      <a:endParaRPr lang="en-US" altLang="ko-KR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6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4484" y="160589"/>
            <a:ext cx="2545381" cy="3899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4.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순서도 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(flowchart)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50814" y="871180"/>
            <a:ext cx="10222390" cy="56475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903A8E0-D861-42CD-B001-17E50A84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729F4-ECEB-4BAB-B37C-2E851F74A79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1BD1D4B-82F2-4F42-A7E9-79B96C86DA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ko-KR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8FFD91-F91C-4961-B8B4-6EE173C8A0A6}"/>
              </a:ext>
            </a:extLst>
          </p:cNvPr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5.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주요</a:t>
            </a:r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서비스 화면</a:t>
            </a:r>
            <a:endParaRPr lang="en-US" altLang="ko-KR" sz="2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821B27-CB87-4CCF-AD56-831D81722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95" y="1088290"/>
            <a:ext cx="4963218" cy="229584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AE10D6C-A30A-4AA8-A51E-7FEB266C41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838" y="1088290"/>
            <a:ext cx="6725589" cy="52680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DDA47F-F25C-4C25-BED8-89F196B15E92}"/>
              </a:ext>
            </a:extLst>
          </p:cNvPr>
          <p:cNvSpPr txBox="1"/>
          <p:nvPr/>
        </p:nvSpPr>
        <p:spPr>
          <a:xfrm>
            <a:off x="417250" y="635038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① 시작 화면</a:t>
            </a:r>
          </a:p>
        </p:txBody>
      </p:sp>
    </p:spTree>
    <p:extLst>
      <p:ext uri="{BB962C8B-B14F-4D97-AF65-F5344CB8AC3E}">
        <p14:creationId xmlns:p14="http://schemas.microsoft.com/office/powerpoint/2010/main" val="2277332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96B1B01-2C1F-4B1F-A6FC-721E8C30B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729F4-ECEB-4BAB-B37C-2E851F74A79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DA14AA6-15C0-457A-84EC-5D0F0173B2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ko-KR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5B0509-5A24-476F-88D7-EB86693BEA22}"/>
              </a:ext>
            </a:extLst>
          </p:cNvPr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5.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주요</a:t>
            </a:r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서비스 화면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F4179D-10F1-454A-B04C-7E9BED904E74}"/>
              </a:ext>
            </a:extLst>
          </p:cNvPr>
          <p:cNvSpPr txBox="1"/>
          <p:nvPr/>
        </p:nvSpPr>
        <p:spPr>
          <a:xfrm>
            <a:off x="417250" y="635038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② 게임 중 화면</a:t>
            </a:r>
            <a:endParaRPr lang="en-US" altLang="ko-KR" dirty="0">
              <a:solidFill>
                <a:schemeClr val="accent6">
                  <a:lumMod val="75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6E20408-32F9-4EC1-9DC6-F2707D676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0" y="1183534"/>
            <a:ext cx="6725589" cy="50394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9F9B4B-F8A7-4228-A8FB-9789D84BC7DC}"/>
              </a:ext>
            </a:extLst>
          </p:cNvPr>
          <p:cNvSpPr txBox="1"/>
          <p:nvPr/>
        </p:nvSpPr>
        <p:spPr>
          <a:xfrm>
            <a:off x="7440967" y="1183534"/>
            <a:ext cx="32944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• 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바둑판에 착수한 돌 표시</a:t>
            </a:r>
            <a:endParaRPr lang="en-US" altLang="ko-KR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• 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순번</a:t>
            </a:r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흑</a:t>
            </a:r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백</a:t>
            </a:r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번갈아 가며 경기</a:t>
            </a:r>
            <a:endParaRPr lang="en-US" altLang="ko-KR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• 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남은 시간 표시</a:t>
            </a:r>
            <a:endParaRPr lang="en-US" altLang="ko-KR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1546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A3F998B-8B9C-4E6A-AC49-04FFE1F5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729F4-ECEB-4BAB-B37C-2E851F74A79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FF0C9BF-5BB9-4E47-B3AF-5D55DF1337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ko-KR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6AC71-17CB-4441-BE31-FD756E4A2B67}"/>
              </a:ext>
            </a:extLst>
          </p:cNvPr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5.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주요</a:t>
            </a:r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서비스 화면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CB6D88-BCF1-4F29-A67F-9FC6B7E91C71}"/>
              </a:ext>
            </a:extLst>
          </p:cNvPr>
          <p:cNvSpPr txBox="1"/>
          <p:nvPr/>
        </p:nvSpPr>
        <p:spPr>
          <a:xfrm>
            <a:off x="417250" y="635038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③ 승패 조건</a:t>
            </a:r>
            <a:endParaRPr lang="en-US" altLang="ko-KR" dirty="0">
              <a:solidFill>
                <a:schemeClr val="accent6">
                  <a:lumMod val="75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8C70EC6-CEC8-4856-8C09-E994B5F89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0" y="1183534"/>
            <a:ext cx="5809880" cy="54392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573D7F-CA7D-4372-939F-99C5356783F0}"/>
              </a:ext>
            </a:extLst>
          </p:cNvPr>
          <p:cNvSpPr txBox="1"/>
          <p:nvPr/>
        </p:nvSpPr>
        <p:spPr>
          <a:xfrm>
            <a:off x="7440967" y="1183534"/>
            <a:ext cx="2380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• 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기권으로 인한 패배</a:t>
            </a:r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</a:t>
            </a:r>
          </a:p>
          <a:p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 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상대방의 승리</a:t>
            </a:r>
            <a:endParaRPr lang="en-US" altLang="ko-KR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1348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FA157D-C53E-4574-8C9B-7515AF41A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8329"/>
            <a:ext cx="2743200" cy="365125"/>
          </a:xfrm>
        </p:spPr>
        <p:txBody>
          <a:bodyPr/>
          <a:lstStyle/>
          <a:p>
            <a:fld id="{CAD729F4-ECEB-4BAB-B37C-2E851F74A79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262BE49-3582-4570-9FF0-27BE5A0CCC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ko-KR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C4065-A55D-42C6-B0EA-B94C5BBC8B60}"/>
              </a:ext>
            </a:extLst>
          </p:cNvPr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5.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주요</a:t>
            </a:r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서비스 화면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7449B2-6DBC-46F3-9F8A-6185AFA677F9}"/>
              </a:ext>
            </a:extLst>
          </p:cNvPr>
          <p:cNvSpPr txBox="1"/>
          <p:nvPr/>
        </p:nvSpPr>
        <p:spPr>
          <a:xfrm>
            <a:off x="417250" y="635038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③ 승패 조건</a:t>
            </a:r>
            <a:endParaRPr lang="en-US" altLang="ko-KR" dirty="0">
              <a:solidFill>
                <a:schemeClr val="accent6">
                  <a:lumMod val="75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BEC2DC3-8FA5-4957-881E-1F7BA874A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0" y="1183534"/>
            <a:ext cx="6036816" cy="54220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1F031B-6848-45F2-A9AB-860B74F9BA10}"/>
              </a:ext>
            </a:extLst>
          </p:cNvPr>
          <p:cNvSpPr txBox="1"/>
          <p:nvPr/>
        </p:nvSpPr>
        <p:spPr>
          <a:xfrm>
            <a:off x="7440967" y="1183534"/>
            <a:ext cx="3552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• 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오목 완성으로 승리</a:t>
            </a:r>
            <a:endParaRPr lang="en-US" altLang="ko-KR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• 2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승을 먼저 거둔 흑이 최종 승리</a:t>
            </a:r>
            <a:endParaRPr lang="en-US" altLang="ko-KR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4607746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6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7250" y="635038"/>
            <a:ext cx="144462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③ 승패 조건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40967" y="1183534"/>
            <a:ext cx="406713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남은 시간 소진 후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,</a:t>
            </a:r>
            <a:endParaRPr lang="en-US" altLang="ko-KR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  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초읽기 기회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3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번도 다 사용하여 패배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  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상대방의 승리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7250" y="1183534"/>
            <a:ext cx="5228948" cy="5517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323FD6-7D72-4983-98BE-C59EFCF77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729F4-ECEB-4BAB-B37C-2E851F74A79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4CCDF0A-38A3-426E-9AD3-ACA437E6B6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ko-KR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162E57-1CCC-499C-814A-C50EB102B783}"/>
              </a:ext>
            </a:extLst>
          </p:cNvPr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5.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주요</a:t>
            </a:r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서비스 화면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8A168E-DBC0-467A-A1E0-E0FC2DBE82E6}"/>
              </a:ext>
            </a:extLst>
          </p:cNvPr>
          <p:cNvSpPr txBox="1"/>
          <p:nvPr/>
        </p:nvSpPr>
        <p:spPr>
          <a:xfrm>
            <a:off x="417250" y="635038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④ 금지 규칙</a:t>
            </a:r>
            <a:endParaRPr lang="en-US" altLang="ko-KR" dirty="0">
              <a:solidFill>
                <a:schemeClr val="accent6">
                  <a:lumMod val="75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A73A90-F599-4C82-B9FB-BC74410082CD}"/>
              </a:ext>
            </a:extLst>
          </p:cNvPr>
          <p:cNvSpPr txBox="1"/>
          <p:nvPr/>
        </p:nvSpPr>
        <p:spPr>
          <a:xfrm>
            <a:off x="7440967" y="1183534"/>
            <a:ext cx="4596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• 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중복 금지</a:t>
            </a:r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돌이 있는 곳에 착수할 수 없다</a:t>
            </a:r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  <a:endParaRPr lang="en-US" altLang="ko-KR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F57418D-A303-4680-BB49-55D041546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0" y="1183534"/>
            <a:ext cx="6830378" cy="538237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E07A6960-3D8E-42C9-8250-5428383597A6}"/>
              </a:ext>
            </a:extLst>
          </p:cNvPr>
          <p:cNvSpPr/>
          <p:nvPr/>
        </p:nvSpPr>
        <p:spPr>
          <a:xfrm>
            <a:off x="3116062" y="3429000"/>
            <a:ext cx="337352" cy="3173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D7C24F-7D41-4C6B-B766-338EF80E3D03}"/>
              </a:ext>
            </a:extLst>
          </p:cNvPr>
          <p:cNvSpPr/>
          <p:nvPr/>
        </p:nvSpPr>
        <p:spPr>
          <a:xfrm>
            <a:off x="417250" y="6010183"/>
            <a:ext cx="390618" cy="2127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74062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5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  <a:gradFill flip="none" rotWithShape="1">
            <a:gsLst>
              <a:gs pos="0">
                <a:srgbClr val="fff2cc">
                  <a:alpha val="100000"/>
                </a:srgbClr>
              </a:gs>
              <a:gs pos="100000">
                <a:srgbClr val="c6e0b3">
                  <a:alpha val="100000"/>
                </a:srgbClr>
              </a:gs>
            </a:gsLst>
            <a:lin ang="0" scaled="1"/>
            <a:tileRect/>
          </a:gradFill>
        </p:spPr>
        <p:txBody>
          <a:bodyPr vert="horz" lIns="91440" tIns="45720" rIns="91440" bIns="45720">
            <a:normAutofit/>
          </a:bodyPr>
          <a:lstStyle/>
          <a:p>
            <a: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6600">
                  <a:solidFill>
                    <a:srgbClr val="ed7d3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맑은 고딕"/>
                <a:ea typeface="맑은 고딕"/>
                <a:cs typeface="맑은 고딕"/>
              </a:rPr>
              <a:t>오목 게임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17250" y="635038"/>
            <a:ext cx="1444626" cy="369332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548235"/>
                </a:solidFill>
                <a:latin typeface="함초롬돋움"/>
                <a:ea typeface="함초롬돋움"/>
                <a:cs typeface="함초롬돋움"/>
              </a:rPr>
              <a:t>④ 금지 규칙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548235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440965" y="1183534"/>
            <a:ext cx="4347175" cy="369332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좌표 미입력, 바둑판을 벗어나는 값 금지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3263" y="1175176"/>
            <a:ext cx="6113816" cy="54011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E962A59-F700-4105-A1A0-FA1EA24B2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729F4-ECEB-4BAB-B37C-2E851F74A79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FC15279-950C-4E4C-85A3-A9ACA2C2CD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ko-KR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9B7817-6865-4089-9588-427B563BE716}"/>
              </a:ext>
            </a:extLst>
          </p:cNvPr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5.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주요</a:t>
            </a:r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서비스 화면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7D40D9-C5AF-46A3-AC8C-4D6A73DCAEE5}"/>
              </a:ext>
            </a:extLst>
          </p:cNvPr>
          <p:cNvSpPr txBox="1"/>
          <p:nvPr/>
        </p:nvSpPr>
        <p:spPr>
          <a:xfrm>
            <a:off x="417250" y="635038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④ 금지 규칙</a:t>
            </a:r>
            <a:endParaRPr lang="en-US" altLang="ko-KR" dirty="0">
              <a:solidFill>
                <a:schemeClr val="accent6">
                  <a:lumMod val="75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194700-FCFE-4A81-A68F-EF6810C99715}"/>
              </a:ext>
            </a:extLst>
          </p:cNvPr>
          <p:cNvSpPr txBox="1"/>
          <p:nvPr/>
        </p:nvSpPr>
        <p:spPr>
          <a:xfrm>
            <a:off x="7440967" y="1183534"/>
            <a:ext cx="42033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• 3x3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금지</a:t>
            </a:r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가로</a:t>
            </a:r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세로</a:t>
            </a:r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대각선으로</a:t>
            </a:r>
            <a:endParaRPr lang="en-US" altLang="ko-KR" sz="18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	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연속해서 놓인 돌이 </a:t>
            </a:r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개인 선이</a:t>
            </a:r>
            <a:endParaRPr lang="en-US" altLang="ko-KR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	2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개여서는 안된다</a:t>
            </a:r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CEB2DD9-4F69-4D20-8CB1-D639C3DF3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0" y="1183534"/>
            <a:ext cx="6878010" cy="538237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3AFE4D-E079-4C79-8200-C0389F93F14D}"/>
              </a:ext>
            </a:extLst>
          </p:cNvPr>
          <p:cNvSpPr/>
          <p:nvPr/>
        </p:nvSpPr>
        <p:spPr>
          <a:xfrm>
            <a:off x="2485748" y="3497803"/>
            <a:ext cx="905521" cy="21306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21B08C1-A2E4-45C1-95D5-8A353A1780FF}"/>
              </a:ext>
            </a:extLst>
          </p:cNvPr>
          <p:cNvSpPr/>
          <p:nvPr/>
        </p:nvSpPr>
        <p:spPr>
          <a:xfrm>
            <a:off x="3133816" y="3027285"/>
            <a:ext cx="257453" cy="68358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656718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6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7250" y="635038"/>
            <a:ext cx="240482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⑤ 제한시간과 초읽기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40967" y="1183533"/>
            <a:ext cx="4671022" cy="31103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초읽기 기능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: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제한시간을 다 쓰면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,</a:t>
            </a:r>
            <a:endParaRPr lang="en-US" altLang="ko-KR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	30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초의 초읽기를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3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번 쓸 수 있다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30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초 이내에 돌을 놓으면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해당 횟수의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  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초읽기는 유지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다음 차례 때 다시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30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초부터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  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시작한다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 30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초가 지나면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초읽기 횟수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차감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초읽기 횟수 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3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회를 모두 소진하면 패배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   (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승패 조건의 마지막 조건 참조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)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게임 내에서는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“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타이머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”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로 표기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	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7250" y="1183534"/>
            <a:ext cx="6954220" cy="54966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4" name="슬라이드 번호 개체 틀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484" y="160589"/>
            <a:ext cx="2364406" cy="3899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6.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보완할 점 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&amp;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소감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693" y="1068123"/>
            <a:ext cx="10642107" cy="4749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시간 작동과 좌표 입력을 동시에 진행하지 못하는 점을 보완할 필요가 있음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  이는 두 개 이상의 클래스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(class)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를 붙이거나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다른 멀티 스레드를 작동시키는 기능이 더 필요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삼삼규칙의 경우 상대편의 돌이 옆에 있다거나 가장자리에 위치함으로써 오목 달성이 어려운 경우까지 처리할 수 없었음.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GUI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에 대한 지식이 없는 상태에서 바둑판과 바둑알을 놓는 구상을 실현한 것은 만족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--------------------------------------------------------------------------------------------------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처음에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메인 메서드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 부분을 생각나는 대로 작성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함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구조가 명확하게 보이지 않았고, 그에 따라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새로운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메서드를 작성할 때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마다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 많이 헤맸으며, 시간 역시 많이 소요됨.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 코드 간략화를 하면서 코드 구조를 파악하기 쉽게 변경하긴 했지만 오류를 많이 고쳐야 했음.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 비효율적인 코드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작성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절차를 고쳐야겠다고 생각함.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처음에 오목의 규칙과 개념을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오해한 상태에서 작성한 코드가 오목 규칙을 제대로 반영하지 못해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코드 작성에 더 많은 시간이 소요됨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  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이후 이 점을 보완하여 규칙을 반영한 것은 협업의 성과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1" name=""/>
          <p:cNvSpPr/>
          <p:nvPr/>
        </p:nvSpPr>
        <p:spPr>
          <a:xfrm>
            <a:off x="844879" y="812717"/>
            <a:ext cx="4872842" cy="295892"/>
          </a:xfrm>
          <a:prstGeom prst="rect">
            <a:avLst/>
          </a:prstGeom>
          <a:gradFill flip="xy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ko-KR" altLang="en-US"/>
              <a:t>박정환</a:t>
            </a:r>
            <a:endParaRPr lang="ko-KR" altLang="en-US"/>
          </a:p>
        </p:txBody>
      </p:sp>
      <p:sp>
        <p:nvSpPr>
          <p:cNvPr id="12" name=""/>
          <p:cNvSpPr/>
          <p:nvPr/>
        </p:nvSpPr>
        <p:spPr>
          <a:xfrm>
            <a:off x="873579" y="3281054"/>
            <a:ext cx="4872842" cy="295892"/>
          </a:xfrm>
          <a:prstGeom prst="rect">
            <a:avLst/>
          </a:prstGeom>
          <a:gradFill flip="xy" rotWithShape="1">
            <a:gsLst>
              <a:gs pos="0">
                <a:srgbClr val="4472c4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/>
          </a:ln>
        </p:spPr>
        <p:txBody>
          <a:bodyPr anchor="ctr"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강이영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5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endParaRPr xmlns:mc="http://schemas.openxmlformats.org/markup-compatibility/2006" xmlns:hp="http://schemas.haansoft.com/office/presentation/8.0" lang="en-US" altLang="ko-KR" sz="2000" b="1" mc:Ignorable="hp" hp:hslEmbossed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7" name="제목 4"/>
          <p:cNvSpPr txBox="1"/>
          <p:nvPr/>
        </p:nvSpPr>
        <p:spPr>
          <a:xfrm>
            <a:off x="4068831" y="2924121"/>
            <a:ext cx="4835472" cy="17721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6000">
                <a:latin typeface="휴먼둥근헤드라인"/>
                <a:ea typeface="휴먼둥근헤드라인"/>
              </a:rPr>
              <a:t>감사합니다</a:t>
            </a:r>
            <a:endParaRPr lang="ko-KR" altLang="en-US" sz="6000">
              <a:latin typeface="휴먼둥근헤드라인"/>
              <a:ea typeface="휴먼둥근헤드라인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3109776" y="4734047"/>
            <a:ext cx="5972448" cy="363757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en-US">
                <a:hlinkClick r:id="rId2"/>
              </a:rPr>
              <a:t>https://github.com/kangeyoung/Omok/tree/jpminlak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5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endParaRPr xmlns:mc="http://schemas.openxmlformats.org/markup-compatibility/2006" xmlns:hp="http://schemas.haansoft.com/office/presentation/8.0" lang="en-US" altLang="ko-KR" sz="2000" b="1" mc:Ignorable="hp" hp:hslEmbossed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7" name="제목 4"/>
          <p:cNvSpPr txBox="1"/>
          <p:nvPr/>
        </p:nvSpPr>
        <p:spPr>
          <a:xfrm>
            <a:off x="4068831" y="2924121"/>
            <a:ext cx="4835472" cy="17721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defRPr/>
            </a:pPr>
            <a:r>
              <a:rPr lang="ko-KR" altLang="en-US" sz="6000">
                <a:latin typeface="휴먼둥근헤드라인"/>
                <a:ea typeface="휴먼둥근헤드라인"/>
              </a:rPr>
              <a:t>부록</a:t>
            </a:r>
            <a:endParaRPr lang="ko-KR" altLang="en-US" sz="6000">
              <a:latin typeface="휴먼둥근헤드라인"/>
              <a:ea typeface="휴먼둥근헤드라인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5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  <a:gradFill flip="none" rotWithShape="1">
            <a:gsLst>
              <a:gs pos="0">
                <a:srgbClr val="fff2cc">
                  <a:alpha val="100000"/>
                </a:srgbClr>
              </a:gs>
              <a:gs pos="100000">
                <a:srgbClr val="c6e0b3">
                  <a:alpha val="100000"/>
                </a:srgbClr>
              </a:gs>
            </a:gsLst>
            <a:lin ang="0" scaled="1"/>
            <a:tileRect/>
          </a:gradFill>
        </p:spPr>
        <p:txBody>
          <a:bodyPr vert="horz" lIns="91440" tIns="45720" rIns="91440" bIns="45720">
            <a:normAutofit/>
          </a:bodyPr>
          <a:lstStyle/>
          <a:p>
            <a: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6600">
                  <a:solidFill>
                    <a:srgbClr val="ed7d3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맑은 고딕"/>
                <a:ea typeface="맑은 고딕"/>
                <a:cs typeface="맑은 고딕"/>
              </a:rPr>
              <a:t>오목 게임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4484" y="160589"/>
            <a:ext cx="2345356" cy="389956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TextBox 11"/>
          <p:cNvSpPr txBox="1"/>
          <p:nvPr/>
        </p:nvSpPr>
        <p:spPr>
          <a:xfrm>
            <a:off x="417250" y="635038"/>
            <a:ext cx="1950665" cy="369332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548235"/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548235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14"/>
          <p:cNvSpPr txBox="1"/>
          <p:nvPr/>
        </p:nvSpPr>
        <p:spPr>
          <a:xfrm>
            <a:off x="7440963" y="1183534"/>
            <a:ext cx="2480277" cy="369332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메인 메서드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	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5324" y="1162853"/>
            <a:ext cx="7002978" cy="5412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5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  <a:gradFill flip="none" rotWithShape="1">
            <a:gsLst>
              <a:gs pos="0">
                <a:srgbClr val="fff2cc">
                  <a:alpha val="100000"/>
                </a:srgbClr>
              </a:gs>
              <a:gs pos="100000">
                <a:srgbClr val="c6e0b3">
                  <a:alpha val="100000"/>
                </a:srgbClr>
              </a:gs>
            </a:gsLst>
            <a:lin ang="0" scaled="1"/>
            <a:tileRect/>
          </a:gradFill>
        </p:spPr>
        <p:txBody>
          <a:bodyPr vert="horz" lIns="91440" tIns="45720" rIns="91440" bIns="45720">
            <a:normAutofit/>
          </a:bodyPr>
          <a:lstStyle/>
          <a:p>
            <a: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6600">
                  <a:solidFill>
                    <a:srgbClr val="ed7d3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맑은 고딕"/>
                <a:ea typeface="맑은 고딕"/>
                <a:cs typeface="맑은 고딕"/>
              </a:rPr>
              <a:t>오목 게임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4484" y="160589"/>
            <a:ext cx="2345356" cy="389956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TextBox 11"/>
          <p:cNvSpPr txBox="1"/>
          <p:nvPr/>
        </p:nvSpPr>
        <p:spPr>
          <a:xfrm>
            <a:off x="417250" y="635038"/>
            <a:ext cx="1950665" cy="369332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548235"/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548235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14"/>
          <p:cNvSpPr txBox="1"/>
          <p:nvPr/>
        </p:nvSpPr>
        <p:spPr>
          <a:xfrm>
            <a:off x="7440964" y="1183534"/>
            <a:ext cx="2480276" cy="369332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메인 메서드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	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24903" y="1197857"/>
            <a:ext cx="6997576" cy="539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6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7250" y="1183534"/>
            <a:ext cx="6958149" cy="483552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40965" y="1183534"/>
            <a:ext cx="2346925" cy="1186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바둑판 구현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매개변수: 없음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리턴값: 없음	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6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40967" y="1183534"/>
            <a:ext cx="4350761" cy="643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바둑판 구현에 놓은 돌 표시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: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 입력받은 배열값에 따라 바둑판 출력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7249" y="1183533"/>
            <a:ext cx="6873119" cy="46934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610600" y="6348329"/>
            <a:ext cx="2743200" cy="365125"/>
          </a:xfrm>
        </p:spPr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6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40965" y="1183534"/>
            <a:ext cx="4569713" cy="1738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승패조건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제한시간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초읽기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(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타이머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)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등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착수 및 승리조건에 따라 리턴값 리턴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매개변수: int num(흑 0 과 백 1 구분용)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리턴값: boolean true(세트 종료) false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3435" y="1160465"/>
            <a:ext cx="6553214" cy="5416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5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  <a:gradFill flip="none" rotWithShape="1">
            <a:gsLst>
              <a:gs pos="0">
                <a:srgbClr val="fff2cc">
                  <a:alpha val="100000"/>
                </a:srgbClr>
              </a:gs>
              <a:gs pos="100000">
                <a:srgbClr val="c6e0b3">
                  <a:alpha val="100000"/>
                </a:srgbClr>
              </a:gs>
            </a:gsLst>
            <a:lin ang="0" scaled="1"/>
            <a:tileRect/>
          </a:gradFill>
        </p:spPr>
        <p:txBody>
          <a:bodyPr vert="horz" lIns="91440" tIns="45720" rIns="91440" bIns="45720">
            <a:normAutofit/>
          </a:bodyPr>
          <a:lstStyle/>
          <a:p>
            <a: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6600">
                  <a:solidFill>
                    <a:srgbClr val="ed7d3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맑은 고딕"/>
                <a:ea typeface="맑은 고딕"/>
                <a:cs typeface="맑은 고딕"/>
              </a:rPr>
              <a:t>오목 게임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548235"/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548235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440966" y="1183534"/>
            <a:ext cx="4185248" cy="369332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승패조건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,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제한시간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,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초읽기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타이머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)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등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3073" y="1191871"/>
            <a:ext cx="6859682" cy="32743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7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484" y="160589"/>
            <a:ext cx="2345356" cy="3899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7250" y="635038"/>
            <a:ext cx="19506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7250" y="5982227"/>
            <a:ext cx="255215" cy="359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endParaRPr lang="en-US" altLang="ko-KR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24833" y="1179447"/>
            <a:ext cx="6543756" cy="5432978"/>
          </a:xfrm>
          <a:prstGeom prst="rect">
            <a:avLst/>
          </a:prstGeom>
        </p:spPr>
      </p:pic>
      <p:sp>
        <p:nvSpPr>
          <p:cNvPr id="16" name="TextBox 8"/>
          <p:cNvSpPr txBox="1"/>
          <p:nvPr/>
        </p:nvSpPr>
        <p:spPr>
          <a:xfrm>
            <a:off x="7428596" y="2518674"/>
            <a:ext cx="4563404" cy="1737096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입력 받은 좌표를 저장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승리 조건에 따라 리턴값 리턴 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매개변수: int bw(흑 1과 백 2 구분용)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리턴값: int -1(본인 승리)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,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-2 (상대편 승리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),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	0(턴 종료)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415491" y="1204727"/>
            <a:ext cx="2210108" cy="885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7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40968" y="1183534"/>
            <a:ext cx="4571460" cy="3110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스톱워치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입력하기 전 시간을 기록하고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입력한 후의 시간을 다시 기록하여 앞의 시간과 비교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경과 시간을 남은 제한시간이나 초읽기 시간에서 차감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제한시간 5분과 그 이후 30초 타이머 구현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매개변수: int onOff(타이머시작 0 흑 1 백 2)</a:t>
            </a:r>
            <a:endParaRPr lang="en-US" altLang="ko-KR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리턴값: boolean true(제한시간 지남), false</a:t>
            </a:r>
            <a:endParaRPr lang="en-US" altLang="ko-KR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 sz="1800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80248" y="1224006"/>
            <a:ext cx="6851726" cy="4100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7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40964" y="1183534"/>
            <a:ext cx="4539654" cy="475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연속하는 돌의 개수 세기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입력받은 좌표에서 몇 개의 돌이 연속해서 배치되어있는 지 계산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가로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,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세로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,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오른쪽 대각선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(/),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왼쪽 대각선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(\)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으로 집계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시작점 정보 배열 리턴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매개변수: int i(goBoard 배열 row index), int j(goBoard 배열 col index),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 int num(연속하는 돌의 개수), int bw(흑과 백 구분)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리턴값: int[][] row: 가로, 세로, 오른쪽 대각선, 왼쪽 대각선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 col: 집계값, 시작점(goBoard 배열 row index, goBoard 배열 col index) 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7250" y="1183534"/>
            <a:ext cx="5868140" cy="54424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7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484" y="160589"/>
            <a:ext cx="2345356" cy="3899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7250" y="635038"/>
            <a:ext cx="19506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40966" y="1183534"/>
            <a:ext cx="2613624" cy="367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연속하는 돌의 개수 세기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7250" y="1183534"/>
            <a:ext cx="3852909" cy="554394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460028" y="1176876"/>
            <a:ext cx="2419688" cy="895475"/>
          </a:xfrm>
          <a:prstGeom prst="rect">
            <a:avLst/>
          </a:prstGeom>
        </p:spPr>
      </p:pic>
      <p:pic>
        <p:nvPicPr>
          <p:cNvPr id="1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448979" y="3429000"/>
            <a:ext cx="5819060" cy="1389165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4432215" y="2923679"/>
            <a:ext cx="2517225" cy="366849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리턴되는 배열값 예시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  <p:sp>
        <p:nvSpPr>
          <p:cNvPr id="7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7249" y="1183534"/>
            <a:ext cx="6952907" cy="457807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40967" y="1183534"/>
            <a:ext cx="4566248" cy="2014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3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x3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금지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: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입력값을 토대로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3x3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규칙 위배 여부 판별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매개변수: int i(goBoard 배열 row index), 	int j(goBoard 배열 col index),	int bw(흑과 백 구분)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리턴값: boolean true(삼삼규칙 위배) false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  <p:sp>
        <p:nvSpPr>
          <p:cNvPr id="7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40967" y="1183534"/>
            <a:ext cx="1261073" cy="367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3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x3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금지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7250" y="1183534"/>
            <a:ext cx="4922392" cy="5172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  <p:sp>
        <p:nvSpPr>
          <p:cNvPr id="7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40965" y="1183534"/>
            <a:ext cx="4557098" cy="1738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입력값을 토대로 오목 달성 여부 판별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매개변수: int i(goBoard 배열 row index), 	int j(goBoard 배열 col index),	int bw(흑과 백 구분)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리턴값: boolean true(오목 달성)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,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false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2831" y="1214684"/>
            <a:ext cx="5868219" cy="17814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  <p:sp>
        <p:nvSpPr>
          <p:cNvPr id="5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  <a:gradFill flip="none" rotWithShape="1">
            <a:gsLst>
              <a:gs pos="0">
                <a:srgbClr val="fff2cc">
                  <a:alpha val="100000"/>
                </a:srgbClr>
              </a:gs>
              <a:gs pos="100000">
                <a:srgbClr val="c6e0b3">
                  <a:alpha val="100000"/>
                </a:srgbClr>
              </a:gs>
            </a:gsLst>
            <a:lin ang="0" scaled="1"/>
            <a:tileRect/>
          </a:gradFill>
        </p:spPr>
        <p:txBody>
          <a:bodyPr vert="horz" lIns="91440" tIns="45720" rIns="91440" bIns="45720">
            <a:normAutofit/>
          </a:bodyPr>
          <a:lstStyle/>
          <a:p>
            <a: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6600">
                  <a:solidFill>
                    <a:srgbClr val="ed7d3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맑은 고딕"/>
                <a:ea typeface="맑은 고딕"/>
                <a:cs typeface="맑은 고딕"/>
              </a:rPr>
              <a:t>오목 게임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TextBox 8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548235"/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548235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8" name="TextBox 9"/>
          <p:cNvSpPr txBox="1"/>
          <p:nvPr/>
        </p:nvSpPr>
        <p:spPr>
          <a:xfrm>
            <a:off x="7440965" y="1183534"/>
            <a:ext cx="4557098" cy="64336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승패 결정 이후 바둑판 초기화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세팅 초기화 및 세트 스코어 출력</a:t>
            </a: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3939" y="1222503"/>
            <a:ext cx="4772691" cy="1419423"/>
          </a:xfrm>
          <a:prstGeom prst="rect">
            <a:avLst/>
          </a:prstGeom>
        </p:spPr>
      </p:pic>
      <p:pic>
        <p:nvPicPr>
          <p:cNvPr id="1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42037" y="3056556"/>
            <a:ext cx="8116432" cy="2353003"/>
          </a:xfrm>
          <a:prstGeom prst="rect">
            <a:avLst/>
          </a:prstGeom>
        </p:spPr>
      </p:pic>
      <p:sp>
        <p:nvSpPr>
          <p:cNvPr id="12" name=""/>
          <p:cNvSpPr txBox="1"/>
          <p:nvPr/>
        </p:nvSpPr>
        <p:spPr>
          <a:xfrm>
            <a:off x="473776" y="5909210"/>
            <a:ext cx="274889" cy="36586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endParaRPr lang="en-US" altLang="ko-KR"/>
          </a:p>
        </p:txBody>
      </p:sp>
      <p:sp>
        <p:nvSpPr>
          <p:cNvPr id="13" name=""/>
          <p:cNvSpPr txBox="1"/>
          <p:nvPr/>
        </p:nvSpPr>
        <p:spPr>
          <a:xfrm>
            <a:off x="8947316" y="3101191"/>
            <a:ext cx="3087239" cy="1459379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매개변수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: </a:t>
            </a: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resetBoard -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배열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(초기값으로 되돌릴 배열) </a:t>
            </a:r>
            <a:endPara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resetSetting - 없음</a:t>
            </a: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리턴값: 없음</a:t>
            </a: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994</ep:Words>
  <ep:PresentationFormat>와이드스크린</ep:PresentationFormat>
  <ep:Paragraphs>212</ep:Paragraphs>
  <ep:Slides>32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ep:HeadingPairs>
  <ep:TitlesOfParts>
    <vt:vector size="33" baseType="lpstr">
      <vt:lpstr>Office 테마</vt:lpstr>
      <vt:lpstr>오목 게임   프로젝트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2025-02-16T06:47:33.000</dcterms:created>
  <dc:creator>1</dc:creator>
  <cp:lastModifiedBy>human-10</cp:lastModifiedBy>
  <dcterms:modified xsi:type="dcterms:W3CDTF">2025-09-17T05:57:14.039</dcterms:modified>
  <cp:revision>77</cp:revision>
  <dc:title>PowerPoint 프레젠테이션</dc:title>
  <cp:version>1000.0000.01</cp:version>
</cp:coreProperties>
</file>